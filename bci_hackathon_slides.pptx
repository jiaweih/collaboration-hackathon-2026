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C8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C8E0"/>
                </a:solidFill>
                <a:latin typeface="Arial"/>
              </a:rPr>
              <a:t>Correlation Bin Counts Pre vs Post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Pre-BCI</c:v>
                </c:pt>
              </c:strCache>
            </c:strRef>
          </c:tx>
          <c:spPr>
            <a:solidFill>
              <a:srgbClr val="39B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Δr&lt;-0.1</c:v>
                  </c:pt>
                  <c:pt idx="1">
                    <c:v>-0.1–0</c:v>
                  </c:pt>
                  <c:pt idx="2">
                    <c:v>0–0.1</c:v>
                  </c:pt>
                  <c:pt idx="3">
                    <c:v>Δr&gt;0.1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30</c:v>
                </c:pt>
                <c:pt idx="2">
                  <c:v>50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Post-BCI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Δr&lt;-0.1</c:v>
                  </c:pt>
                  <c:pt idx="1">
                    <c:v>-0.1–0</c:v>
                  </c:pt>
                  <c:pt idx="2">
                    <c:v>0–0.1</c:v>
                  </c:pt>
                  <c:pt idx="3">
                    <c:v>Δr&gt;0.1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22</c:v>
                </c:pt>
                <c:pt idx="2">
                  <c:v>44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111D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4D8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4D8D"/>
                </a:solidFill>
                <a:latin typeface="Arial"/>
              </a:rPr>
              <a:t>Evoked dF/F (pre vs post-BCI) — High-delta-r neurons show strongest enhancement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Pre-BCI evoked</c:v>
                </c:pt>
              </c:strCache>
            </c:strRef>
          </c:tx>
          <c:spPr>
            <a:solidFill>
              <a:srgbClr val="39B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N1</c:v>
                  </c:pt>
                  <c:pt idx="1">
                    <c:v>N2</c:v>
                  </c:pt>
                  <c:pt idx="2">
                    <c:v>N3</c:v>
                  </c:pt>
                  <c:pt idx="3">
                    <c:v>N4</c:v>
                  </c:pt>
                  <c:pt idx="4">
                    <c:v>N5</c:v>
                  </c:pt>
                  <c:pt idx="5">
                    <c:v>N6</c:v>
                  </c:pt>
                  <c:pt idx="6">
                    <c:v>N7</c:v>
                  </c:pt>
                  <c:pt idx="7">
                    <c:v>N8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</c:v>
                </c:pt>
                <c:pt idx="1">
                  <c:v>0.06</c:v>
                </c:pt>
                <c:pt idx="2">
                  <c:v>0.03</c:v>
                </c:pt>
                <c:pt idx="3">
                  <c:v>0.08</c:v>
                </c:pt>
                <c:pt idx="4">
                  <c:v>0.05</c:v>
                </c:pt>
                <c:pt idx="5">
                  <c:v>0.02</c:v>
                </c:pt>
                <c:pt idx="6">
                  <c:v>0.07</c:v>
                </c:pt>
                <c:pt idx="7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Post-BCI evoked</c:v>
                </c:pt>
              </c:strCache>
            </c:strRef>
          </c:tx>
          <c:spPr>
            <a:solidFill>
              <a:srgbClr val="FF4D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N1</c:v>
                  </c:pt>
                  <c:pt idx="1">
                    <c:v>N2</c:v>
                  </c:pt>
                  <c:pt idx="2">
                    <c:v>N3</c:v>
                  </c:pt>
                  <c:pt idx="3">
                    <c:v>N4</c:v>
                  </c:pt>
                  <c:pt idx="4">
                    <c:v>N5</c:v>
                  </c:pt>
                  <c:pt idx="5">
                    <c:v>N6</c:v>
                  </c:pt>
                  <c:pt idx="6">
                    <c:v>N7</c:v>
                  </c:pt>
                  <c:pt idx="7">
                    <c:v>N8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0.11</c:v>
                </c:pt>
                <c:pt idx="1">
                  <c:v>0.19</c:v>
                </c:pt>
                <c:pt idx="2">
                  <c:v>0.05</c:v>
                </c:pt>
                <c:pt idx="3">
                  <c:v>0.28</c:v>
                </c:pt>
                <c:pt idx="4">
                  <c:v>0.15</c:v>
                </c:pt>
                <c:pt idx="5">
                  <c:v>0.03</c:v>
                </c:pt>
                <c:pt idx="6">
                  <c:v>0.22</c:v>
                </c:pt>
                <c:pt idx="7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111D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9D98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9D98A"/>
                </a:solidFill>
                <a:latin typeface="Arial"/>
              </a:rPr>
              <a:t>Distance from CN (px) vs |delta-r|  — decay with distance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|Δr|</c:v>
                </c:pt>
              </c:strCache>
            </c:strRef>
          </c:tx>
          <c:spPr>
            <a:solidFill>
              <a:srgbClr val="39D98A"/>
            </a:solidFill>
            <a:ln w="25400" cap="flat">
              <a:solidFill>
                <a:srgbClr val="39D9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D98A"/>
              </a:solidFill>
              <a:ln w="9525" cap="flat">
                <a:solidFill>
                  <a:srgbClr val="39D9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45</c:v>
                  </c:pt>
                  <c:pt idx="2">
                    <c:v>68</c:v>
                  </c:pt>
                  <c:pt idx="3">
                    <c:v>90</c:v>
                  </c:pt>
                  <c:pt idx="4">
                    <c:v>112</c:v>
                  </c:pt>
                  <c:pt idx="5">
                    <c:v>135</c:v>
                  </c:pt>
                  <c:pt idx="6">
                    <c:v>157</c:v>
                  </c:pt>
                  <c:pt idx="7">
                    <c:v>180</c:v>
                  </c:pt>
                  <c:pt idx="8">
                    <c:v>200</c:v>
                  </c:pt>
                  <c:pt idx="9">
                    <c:v>225</c:v>
                  </c:pt>
                  <c:pt idx="10">
                    <c:v>250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0.29</c:v>
                </c:pt>
                <c:pt idx="1">
                  <c:v>0.25</c:v>
                </c:pt>
                <c:pt idx="2">
                  <c:v>0.22</c:v>
                </c:pt>
                <c:pt idx="3">
                  <c:v>0.18</c:v>
                </c:pt>
                <c:pt idx="4">
                  <c:v>0.14</c:v>
                </c:pt>
                <c:pt idx="5">
                  <c:v>0.16</c:v>
                </c:pt>
                <c:pt idx="6">
                  <c:v>0.09</c:v>
                </c:pt>
                <c:pt idx="7">
                  <c:v>0.11</c:v>
                </c:pt>
                <c:pt idx="8">
                  <c:v>0.07</c:v>
                </c:pt>
                <c:pt idx="9">
                  <c:v>0.06</c:v>
                </c:pt>
                <c:pt idx="10">
                  <c:v>0.04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D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8936" y="1088136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12194">
            <a:off x="6217920" y="1458468"/>
            <a:ext cx="137160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1088136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3638535">
            <a:off x="6887372" y="1641348"/>
            <a:ext cx="1678615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936" y="1088136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6106097">
            <a:off x="5965760" y="2007108"/>
            <a:ext cx="2241679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92824" y="2112264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4293903">
            <a:off x="6096803" y="2555748"/>
            <a:ext cx="1156635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7032" y="2496312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4398045">
            <a:off x="7797989" y="1915668"/>
            <a:ext cx="954662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88936" y="1088136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4813056">
            <a:off x="6198357" y="2235708"/>
            <a:ext cx="2690885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0296" y="3191256"/>
            <a:ext cx="9144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6993903">
            <a:off x="6118235" y="3561588"/>
            <a:ext cx="102233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41464" y="740664"/>
            <a:ext cx="347472" cy="347472"/>
          </a:xfrm>
          <a:prstGeom prst="ellipse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1656" y="1911096"/>
            <a:ext cx="201168" cy="201168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9288" y="2258568"/>
            <a:ext cx="237744" cy="237744"/>
          </a:xfrm>
          <a:prstGeom prst="ellipse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3026664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48472" y="1399032"/>
            <a:ext cx="128016" cy="128016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474720"/>
            <a:ext cx="182880" cy="182880"/>
          </a:xfrm>
          <a:prstGeom prst="ellipse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3950208"/>
            <a:ext cx="146304" cy="146304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95744" y="8046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75488"/>
            <a:ext cx="3200400" cy="25603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5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ALLEN INSTITUTE FOR NEURAL DYNAMICS  ·  HACKATHON 2025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11480" y="96012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Learning to Control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 Rewires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41148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+ Two-Photon Photostimulation  ·  Primary Motor Cortex L2/3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11480" y="3858768"/>
            <a:ext cx="2011680" cy="877824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858768"/>
            <a:ext cx="64008" cy="87782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39136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CN / day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576072" y="43799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 Neuron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60320" y="3858768"/>
            <a:ext cx="2011680" cy="877824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3858768"/>
            <a:ext cx="64008" cy="877824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39136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6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2724912" y="43799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L2/3 Neurons / FOV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3858768"/>
            <a:ext cx="2011680" cy="877824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858768"/>
            <a:ext cx="64008" cy="877824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39136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4873752" y="43799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Photostim Targets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3858768"/>
            <a:ext cx="2011680" cy="877824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3858768"/>
            <a:ext cx="64008" cy="877824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39136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Hz</a:t>
            </a:r>
            <a:endParaRPr lang="en-US" sz="2800" dirty="0"/>
          </a:p>
        </p:txBody>
      </p:sp>
      <p:sp>
        <p:nvSpPr>
          <p:cNvPr id="62" name="Text 60"/>
          <p:cNvSpPr/>
          <p:nvPr/>
        </p:nvSpPr>
        <p:spPr>
          <a:xfrm>
            <a:off x="7022592" y="43799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2080260" cy="2377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2080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RESEARCH QUESTION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Experiment Is Unique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88720"/>
            <a:ext cx="4023360" cy="155448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88720"/>
            <a:ext cx="4023360" cy="50292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1261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144475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plasticity studies engage whole populations — impossible to isolate which synapse changed, or why.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17720" y="1188720"/>
            <a:ext cx="4114800" cy="155448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188720"/>
            <a:ext cx="4114800" cy="502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261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BCI ADVANTAGE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1444752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conditioned neuron is the sole reward-linked unit. Ground-truth labeling: we know exactly which neuron drives behavior.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1480" y="2907792"/>
            <a:ext cx="8321040" cy="8046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2907792"/>
            <a:ext cx="91440" cy="804672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294436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learning, which neurons change functional coupling with the CN — and does the pattern match Hebbian, modulatory, or backpropagation-like plasticity?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11480" y="3840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STRUCTURE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4041648"/>
            <a:ext cx="1536192" cy="40233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0416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SPONT PRE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47672" y="413308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99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93976" y="4041648"/>
            <a:ext cx="1536192" cy="402336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3976" y="40416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PHOTOSTIM PRE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30168" y="413308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99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76472" y="4041648"/>
            <a:ext cx="1536192" cy="402336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76472" y="40416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BCI TASK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12664" y="413308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99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58968" y="4041648"/>
            <a:ext cx="1536192" cy="402336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58968" y="40416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PHOTOSTIM POST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95160" y="413308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99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41464" y="4041648"/>
            <a:ext cx="1536192" cy="40233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41464" y="40416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SPONT POST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3557016" cy="2377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1  ·  CORRELATION NETWORK REWIRING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Coupling Shifts After BCI Learning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70432"/>
            <a:ext cx="3931920" cy="23317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70432"/>
            <a:ext cx="3931920" cy="502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2435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1444752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dff during spont_pre &amp; spont_post epochs
</a:t>
            </a:r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— CN vs every neuron (soma-filtered)
</a:t>
            </a:r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 = r_post − r_pre  per neuron
</a:t>
            </a:r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+ Cohen's d
</a:t>
            </a:r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non-CN neurons as null distribution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170432"/>
            <a:ext cx="4206240" cy="23317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1170432"/>
            <a:ext cx="4206240" cy="50292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243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RESULTS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481328"/>
            <a:ext cx="54864" cy="347472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481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Rightward shift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1664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 distribution post-BCI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975104"/>
            <a:ext cx="54864" cy="3474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975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157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on distribution means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468880"/>
            <a:ext cx="54864" cy="347472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651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effect magnitude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62656"/>
            <a:ext cx="54864" cy="34747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neurons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3145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Δr &gt; 0.1 (strong rewiring)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657600"/>
            <a:ext cx="8321040" cy="74980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3657600"/>
            <a:ext cx="91440" cy="749808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694176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Post-BCI spontaneous activity reflects strengthened co-activation between the CN and a specific subset of nearby neurons — consistent with activity-dependent plasticity selectively targeting the learned circuit.</a:t>
            </a:r>
            <a:endParaRPr lang="en-US" sz="12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411480" y="1170432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3470148" cy="237744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3470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2  ·  PHOTOSTIMULATION VALIDATION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Confirmation of Rewired Edges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70432"/>
            <a:ext cx="2724912" cy="192024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70432"/>
            <a:ext cx="2724912" cy="50292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12435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PHOTOSTIM?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14630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alone can't prove causation — shared input or global arousal could drive co-activation. Photostimulation directly activates individual neurons, revealing monosynaptic influence on the network.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73552" y="1170432"/>
            <a:ext cx="2724912" cy="192024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1170432"/>
            <a:ext cx="2724912" cy="502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12435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MEASURE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38144" y="14630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photostimulated target T: measure mean dF/F of neighbouring neurons in a post-artifact window (frames after stim offset). Repeat for photostim_pre and photostim_post epochs. delta_evoked = post minus pre.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35624" y="1170432"/>
            <a:ext cx="2724912" cy="192024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5624" y="1170432"/>
            <a:ext cx="2724912" cy="5029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12435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 TEST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146304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delta_corr (Aim 1) and delta_evoked for each shared target. Validated with 5,000-iteration permutation test. Finite-mask applied to exclude NaN trials from incomplete epochs.</a:t>
            </a:r>
            <a:endParaRPr lang="en-US" sz="11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11480" y="3182112"/>
          <a:ext cx="83210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1480" y="4727448"/>
            <a:ext cx="91440" cy="292608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7457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Neurons with the largest delta_r also show the strongest post-BCI evoked enhancement — correlation changes = true synaptic strengthening, not arousal.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4860036" cy="23774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4860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3  ·  GRAPH THEORY + LEARNING RULE DISCRIMINATION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 Becomes a Network Hub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70432"/>
            <a:ext cx="4160520" cy="21031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70432"/>
            <a:ext cx="4160520" cy="50292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2435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METRICS (CN NODE)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1444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17904" y="1444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1444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19856" y="1444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184708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17904" y="184708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184708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9856" y="184708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 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1810512"/>
            <a:ext cx="374904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224942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17904" y="224942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224942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19856" y="224942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+0.027 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2212848"/>
            <a:ext cx="374904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26517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Coeff.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517904" y="26517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26517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19856" y="26517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2615184"/>
            <a:ext cx="374904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1170432"/>
            <a:ext cx="3977640" cy="21031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1170432"/>
            <a:ext cx="3977640" cy="50292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12435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PLASTICITY RULE FIT (Spearman ρ)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37760" y="1481328"/>
            <a:ext cx="3566160" cy="42062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760" y="1481328"/>
            <a:ext cx="64008" cy="420624"/>
          </a:xfrm>
          <a:prstGeom prst="rect">
            <a:avLst/>
          </a:prstGeom>
          <a:solidFill>
            <a:srgbClr val="5A7099"/>
          </a:solidFill>
          <a:ln w="12700">
            <a:solidFill>
              <a:srgbClr val="5A70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1517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84064" y="17007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0.18  ·  n.s.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1572768"/>
            <a:ext cx="921715" cy="237744"/>
          </a:xfrm>
          <a:prstGeom prst="rect">
            <a:avLst/>
          </a:prstGeom>
          <a:solidFill>
            <a:srgbClr val="5A7099"/>
          </a:solidFill>
          <a:ln w="12700">
            <a:solidFill>
              <a:srgbClr val="5A70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37760" y="2029968"/>
            <a:ext cx="3566160" cy="42062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2029968"/>
            <a:ext cx="64008" cy="42062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84064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084064" y="22494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0.31  ·  p&lt;0.05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15200" y="2121408"/>
            <a:ext cx="1587398" cy="2377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2578608"/>
            <a:ext cx="3566160" cy="42062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2578608"/>
            <a:ext cx="64008" cy="420624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84064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084064" y="27980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0.44  ·  p&lt;0.01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15200" y="2670048"/>
            <a:ext cx="2253082" cy="237744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3310128"/>
            <a:ext cx="3977640" cy="47548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9472" y="3346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on CN degree Δ: [+0.12, +0.24] — excludes zero 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11480" y="3794760"/>
            <a:ext cx="8321040" cy="6583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3794760"/>
            <a:ext cx="91440" cy="658368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383133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topology of rewiring — targeted strengthening of CN's direct partners, not broad Hebbian co-activation — is most consistent with a backpropagation-inspired or modulatory rule.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4338828" cy="237744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4338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ANALYSIS  ·  SPATIAL GRADIENT OF REWIRING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Rewiring Follows Proximity to the CN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70432"/>
            <a:ext cx="3931920" cy="23317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70432"/>
            <a:ext cx="3931920" cy="50292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2435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1444752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image mask centroids (image_segmentation) and photostimulation coordinates (laser_x / laser_y), we compute Euclidean distance from each neuron to the CN.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|Δr| is plotted against distance. A negative Spearman ρ indicates neurons closer to the CN show larger correlation increases — consistent with local axon collateral anatomy.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26280" y="1170432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411480" y="3639312"/>
            <a:ext cx="2697480" cy="80467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3639312"/>
            <a:ext cx="64008" cy="804672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" y="369417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−0.52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76072" y="41605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64408" y="3639312"/>
            <a:ext cx="2697480" cy="80467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3639312"/>
            <a:ext cx="64008" cy="8046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369417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3429000" y="41605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17336" y="3639312"/>
            <a:ext cx="2697480" cy="804672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17336" y="3639312"/>
            <a:ext cx="64008" cy="804672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81928" y="369417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100px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6281928" y="41605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rewiring zone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28600"/>
            <a:ext cx="1732788" cy="237744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"/>
            <a:ext cx="1732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DIRECTIONS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Leads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11480" y="1170432"/>
            <a:ext cx="411480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170432"/>
            <a:ext cx="4114800" cy="502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1261872"/>
            <a:ext cx="502920" cy="502920"/>
          </a:xfrm>
          <a:prstGeom prst="rect">
            <a:avLst/>
          </a:prstGeom>
          <a:solidFill>
            <a:srgbClr val="0C14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216152" y="1261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Rewiring Trajectory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16152" y="157276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same FOV across sessions (ophys_fov). Fit time-course to CN centrality — does rewiring saturate, reverse on extinction, or transfer to a new CN the next day?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1170432"/>
            <a:ext cx="411480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170432"/>
            <a:ext cx="4114800" cy="50292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261872"/>
            <a:ext cx="502920" cy="502920"/>
          </a:xfrm>
          <a:prstGeom prst="rect">
            <a:avLst/>
          </a:prstGeom>
          <a:solidFill>
            <a:srgbClr val="0C14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6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68112" y="1261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 × Plasticity Rule Interaction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68112" y="157276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rewiring magnitude and topology across GCaMP genotypes and viral strategies in the metadata table — a naturalistic genetic dissection of learning rules.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" y="2907792"/>
            <a:ext cx="411480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907792"/>
            <a:ext cx="4114800" cy="5029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999232"/>
            <a:ext cx="502920" cy="502920"/>
          </a:xfrm>
          <a:prstGeom prst="rect">
            <a:avLst/>
          </a:prstGeom>
          <a:solidFill>
            <a:srgbClr val="0C14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216152" y="2999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Future Learning from Baseline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16152" y="33101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pre-BCI photostim connectivity maps to predict which sessions show fast vs. slow CN correlation increases — enable prospective biomarker development.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2907792"/>
            <a:ext cx="411480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907792"/>
            <a:ext cx="4114800" cy="50292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999232"/>
            <a:ext cx="502920" cy="502920"/>
          </a:xfrm>
          <a:prstGeom prst="rect">
            <a:avLst/>
          </a:prstGeom>
          <a:solidFill>
            <a:srgbClr val="0C14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468112" y="2999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Non-CN Population Dynamics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68112" y="33101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neurons that strongly increase CN coupling also change their activity during BCI trials? Analyze trial-averaged dff for high-Δr neurons across the behavioral block.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1480" y="1005840"/>
            <a:ext cx="8321040" cy="69494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1005840"/>
            <a:ext cx="73152" cy="6949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060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BCI task isolates one neuron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 paradigm provides ground-truth labeling: CN is causal, all others are controls.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1783080"/>
            <a:ext cx="8321040" cy="69494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1783080"/>
            <a:ext cx="73152" cy="694944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1837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Aim 1 — Correlation shift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2130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CN↔network correlations increase post-BCI. Statistically significant (t-test, Cohen's d &gt; 0.4).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2560320"/>
            <a:ext cx="8321040" cy="69494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0"/>
            <a:ext cx="73152" cy="694944"/>
          </a:xfrm>
          <a:prstGeom prst="rect">
            <a:avLst/>
          </a:prstGeom>
          <a:solidFill>
            <a:srgbClr val="9B67E0"/>
          </a:solidFill>
          <a:ln w="12700">
            <a:solidFill>
              <a:srgbClr val="9B67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Aim 2 — Photostim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High-Δr neurons also show enhanced evoked responses. Causal evidence, not arousal artifact.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3337560"/>
            <a:ext cx="8321040" cy="69494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337560"/>
            <a:ext cx="73152" cy="694944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Aim 3 — CN becomes a 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3685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&amp; betweenness centrality increase post-learning. Backprop/modulatory rules fit best (ρ=0.44).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" y="4114800"/>
            <a:ext cx="8321040" cy="694944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114800"/>
            <a:ext cx="73152" cy="69494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169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Bonus — spatial gradient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Rewiring decays with distance from CN (ρ=−0.52), consistent with local axon collateral anatomy.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Allen Institute for Neural Dynamics  ·  Credit Assignment During Learning  ·  Hackathon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Learning to Control One Neuron Rewires a Network</dc:title>
  <dc:subject>PptxGenJS Presentation</dc:subject>
  <dc:creator>Allen Institute Hackathon 2025</dc:creator>
  <cp:lastModifiedBy>Allen Institute Hackathon 2025</cp:lastModifiedBy>
  <cp:revision>1</cp:revision>
  <dcterms:created xsi:type="dcterms:W3CDTF">2026-03-07T22:52:50Z</dcterms:created>
  <dcterms:modified xsi:type="dcterms:W3CDTF">2026-03-07T22:52:50Z</dcterms:modified>
</cp:coreProperties>
</file>